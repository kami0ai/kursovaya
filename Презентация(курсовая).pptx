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8" d="100"/>
          <a:sy n="88" d="100"/>
        </p:scale>
        <p:origin x="1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AA522C-35EA-90A5-5E05-792067668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097FA5D-9852-9699-D4F6-721CE39170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CF4706-EBA6-F8A3-BC1E-072CF517C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47A-DDD7-49D0-9EA7-9D47DE53CA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D00A5E-C6A9-42A5-4397-02D6E4441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46B444-04F3-725F-5FB6-B2CD0DB4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721E-8E9C-4BC3-AA1D-40340C1837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530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35E9C1-9745-D586-CDD0-B6A3DD4AD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9BD7DB-30B6-814E-8CC7-D9D3F743C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0254DB-9193-D880-B9BE-D1EC3A345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47A-DDD7-49D0-9EA7-9D47DE53CA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2328EF-751D-C29B-872E-EA2C87E8E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9F23AE-7D6C-7388-FA6D-4AC28C52D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721E-8E9C-4BC3-AA1D-40340C1837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877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1FC0B-A14B-FCB6-5328-17E2417FF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2A6F68-4E22-A551-5A12-954E5869E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261DC6-C113-92E5-AD4B-6D739D984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47A-DDD7-49D0-9EA7-9D47DE53CA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CF4D67-1635-B368-F205-AC6858342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58BACF-FDB8-5F7A-066C-30E4F2A1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721E-8E9C-4BC3-AA1D-40340C1837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8714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537AE-E3B1-6AE2-4B4A-0A31A630E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4C50DD-065E-0189-3261-3AC550F9D9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78ACF1-4913-AD5D-489C-B7768D592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E32925-0DE4-B108-C46A-51E83BD21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47A-DDD7-49D0-9EA7-9D47DE53CA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81A259B-63A6-173F-A1FA-ED530076B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7565ED-D823-AC0A-BFB6-7E9A0CEE8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721E-8E9C-4BC3-AA1D-40340C1837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4140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0FCE8A-2F25-E855-A7EC-F0CBA9BC3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694874-77D6-D8FA-DE74-B815CD8EB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4FA651-8AA1-75C5-2F1F-37F8EA038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5C76C55-69D0-6A11-92FE-6F2CEF8E16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2247AAA-23F1-37C1-0B6E-195CC57859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8A9FC7F-0BD7-09A0-8BC0-45DDEA6D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47A-DDD7-49D0-9EA7-9D47DE53CA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5E68599-CE66-B29F-7039-94C5D190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05CFBB6-E04B-870C-5067-C18AFDDDB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721E-8E9C-4BC3-AA1D-40340C1837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447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01518-A66B-F05D-B573-FBF8C6EE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649C5D5-1758-0F9E-7E46-D2D33BA6E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47A-DDD7-49D0-9EA7-9D47DE53CA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6F8DE53-D16F-1649-C53E-6367DB5A4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6BD6C2A-7FCD-6B6B-A8A0-0F88BBBD9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721E-8E9C-4BC3-AA1D-40340C1837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39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31E89C0-1051-91CD-3FF2-6E32784B7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47A-DDD7-49D0-9EA7-9D47DE53CA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8D13A24-C90D-362C-3A4A-1921DE6BE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C9DAC9-3B68-7C2C-FCDA-BAB5C0E1D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721E-8E9C-4BC3-AA1D-40340C1837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616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34400F-2797-3EC3-6641-2448AF852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2B134B-1C4B-58FD-8229-457F24061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0093036-1E06-D992-5E8A-BF2929580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9141A0-8767-8A39-C147-07DBFC152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47A-DDD7-49D0-9EA7-9D47DE53CA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F48D179-CBAE-5240-067F-D4FBBB53A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B26920-9F13-435E-A0D0-6266C1F11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721E-8E9C-4BC3-AA1D-40340C1837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3014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B52C6-3783-1798-724E-7394F1BD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E754E8E-7968-2A79-3D22-DDF260CFF9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17EA8E-9EB7-4B9D-CA7F-FD70A24FA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C64E05-5A20-F023-A106-8FCC00313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47A-DDD7-49D0-9EA7-9D47DE53CA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B94C1D-AAB5-781D-095F-654EE8D1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82B8B5-4B76-18E1-83E0-993DCB67F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721E-8E9C-4BC3-AA1D-40340C1837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809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5375ED-8DF3-B1EC-9D42-11051087D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E96771-FA5E-AE0F-AB06-736B49AF8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53F725-09C9-5020-BD80-A5A70553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47A-DDD7-49D0-9EA7-9D47DE53CA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4AAEA3-096D-5D8C-92EF-BF7DA5F08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4E7B0F-263A-A587-05EC-992D15A7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721E-8E9C-4BC3-AA1D-40340C1837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271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277CBAB-FEDB-A12D-DADE-0D4E3B6BE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3874D21-7787-6EBC-7375-255F66395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B1BCD4-CE15-34FD-1879-9C68ADB02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47A-DDD7-49D0-9EA7-9D47DE53CA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A614F6-C16E-C495-A52F-4A120CD46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2A34E5-E099-CE8B-B72C-4E43F13FC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721E-8E9C-4BC3-AA1D-40340C1837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814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873156-7027-92E0-BC65-CF65147DF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5DE4C2-1889-E2C6-BE55-6C87B825E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7B5928-0FFB-58A4-D534-4CF9AFA96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F947A-DDD7-49D0-9EA7-9D47DE53CA3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85C578-0554-D6FA-B35A-F32491A1AA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3E4D6F-74F2-3960-2349-8435350EC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6721E-8E9C-4BC3-AA1D-40340C1837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390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8EEFD647-6E3B-9A3D-7326-5F2D901A8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2060576"/>
            <a:ext cx="7772400" cy="1470025"/>
          </a:xfrm>
          <a:prstGeom prst="rect">
            <a:avLst/>
          </a:prstGeom>
          <a:solidFill>
            <a:schemeClr val="bg1">
              <a:alpha val="4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ТУРИСТОВ ГОРОДА СЛОБОДСКОГО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1440A1C-4477-2C1D-C755-8F201E786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321" y="4086600"/>
            <a:ext cx="4511554" cy="2401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b="1" dirty="0"/>
              <a:t>Выполнил: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dirty="0"/>
              <a:t>Чемоданов Павел Юрьевич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b="1" dirty="0"/>
              <a:t>Группа: 22П-1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b="1" dirty="0"/>
              <a:t>Специальность: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dirty="0"/>
              <a:t>09.02.07 Информационные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dirty="0"/>
              <a:t>системы и программирование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b="1" dirty="0"/>
              <a:t>Руководитель: </a:t>
            </a:r>
            <a:r>
              <a:rPr lang="ru-RU" altLang="ru-RU" dirty="0"/>
              <a:t>Калинин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dirty="0"/>
              <a:t>Арсений Олегович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endParaRPr lang="ru-RU" altLang="ru-RU" b="1" dirty="0"/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42DA2F3F-E53A-17E9-4040-C7FE04664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4" y="261939"/>
            <a:ext cx="7704137" cy="1006475"/>
          </a:xfrm>
          <a:prstGeom prst="rect">
            <a:avLst/>
          </a:prstGeom>
          <a:solidFill>
            <a:schemeClr val="bg1">
              <a:alpha val="4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</p:txBody>
      </p:sp>
      <p:pic>
        <p:nvPicPr>
          <p:cNvPr id="12" name="Picture 14" descr="touch-icon-ipad-retina">
            <a:extLst>
              <a:ext uri="{FF2B5EF4-FFF2-40B4-BE49-F238E27FC236}">
                <a16:creationId xmlns:a16="http://schemas.microsoft.com/office/drawing/2014/main" id="{31384F0D-5089-D28F-20C0-5EAFBE943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117" y="128606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15">
            <a:extLst>
              <a:ext uri="{FF2B5EF4-FFF2-40B4-BE49-F238E27FC236}">
                <a16:creationId xmlns:a16="http://schemas.microsoft.com/office/drawing/2014/main" id="{518479D8-160F-5627-C212-525A1A784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114" y="6237288"/>
            <a:ext cx="2376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dirty="0"/>
              <a:t>202</a:t>
            </a:r>
            <a:r>
              <a:rPr lang="en-US" altLang="ru-RU" dirty="0"/>
              <a:t>5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71277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2A69F5C-4448-7265-2058-EFD94C0C3C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4" y="274639"/>
            <a:ext cx="8218487" cy="561975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ТУРИСТОВ ГОРОДА СЛОБОДСКОГО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EAE6119-CEF5-1FD1-431A-6DC52C9C36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62075" y="1722440"/>
            <a:ext cx="9324975" cy="1418794"/>
          </a:xfrm>
        </p:spPr>
        <p:txBody>
          <a:bodyPr>
            <a:normAutofit/>
          </a:bodyPr>
          <a:lstStyle/>
          <a:p>
            <a:pPr algn="just">
              <a:buFontTx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               Цель курсового проекта – 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разработка мобильного приложения для платформы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Android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предназначенного для информационного сопровождения туристов, посещающих город Слободской</a:t>
            </a:r>
            <a:r>
              <a:rPr lang="ru-RU" altLang="ru-RU" sz="2400" dirty="0">
                <a:latin typeface="Times New Roman" panose="02020603050405020304" pitchFamily="18" charset="0"/>
              </a:rPr>
              <a:t> .      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E5C04787-D0B9-F821-46A5-CD9933A8A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836613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2800" b="1">
                <a:latin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D7CB4D1-2C66-6F83-AABE-1978EEBC1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50" y="3141234"/>
            <a:ext cx="932497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dirty="0">
                <a:latin typeface="Times New Roman" panose="02020603050405020304" pitchFamily="18" charset="0"/>
              </a:rPr>
              <a:t>  Задачи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 и существующих аналогов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Сформулировать техническое задание на разработку приложения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Описать архитектуру и пользовательский интерфейс приложения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функционал приложения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и опытную эксплуатацию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1D1D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руководство пользователя</a:t>
            </a:r>
            <a:endParaRPr lang="ru-RU" sz="2400" b="0" i="0" dirty="0">
              <a:solidFill>
                <a:srgbClr val="1D1D2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32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A19FF53-2A0D-FBB7-D00F-8ED82B5BE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4" y="274639"/>
            <a:ext cx="8218487" cy="56197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ТУРИСТОВ ГОРОДА СЛОБОДСКОГО</a:t>
            </a:r>
            <a:endParaRPr lang="ru-RU" altLang="ru-RU" sz="1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810E71A-9E64-B6C5-BF06-CF83E4AA3F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43026" y="1557339"/>
            <a:ext cx="9324975" cy="2379960"/>
          </a:xfrm>
        </p:spPr>
        <p:txBody>
          <a:bodyPr>
            <a:normAutofit/>
          </a:bodyPr>
          <a:lstStyle/>
          <a:p>
            <a:pPr marL="244800" indent="-244800" algn="just">
              <a:buNone/>
            </a:pPr>
            <a:r>
              <a:rPr lang="ru-RU" b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Цифровой гид — это мобильное приложение, предоставляющее структурированную информацию о достопримечательностях, маршрутах и сервисах с привязкой к геолокации для удобства планирования и сопровождения туристов на местности.</a:t>
            </a:r>
          </a:p>
          <a:p>
            <a:pPr marL="0" indent="0">
              <a:buNone/>
            </a:pPr>
            <a:endParaRPr lang="ru-RU" altLang="ru-RU" dirty="0">
              <a:latin typeface="Times New Roman" panose="02020603050405020304" pitchFamily="18" charset="0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6014D16D-5C11-FB77-93FF-FCB057E49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836613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2800" b="1" dirty="0">
                <a:latin typeface="Times New Roman" panose="02020603050405020304" pitchFamily="18" charset="0"/>
              </a:rPr>
              <a:t>Анализ предметной области</a:t>
            </a:r>
          </a:p>
        </p:txBody>
      </p:sp>
    </p:spTree>
    <p:extLst>
      <p:ext uri="{BB962C8B-B14F-4D97-AF65-F5344CB8AC3E}">
        <p14:creationId xmlns:p14="http://schemas.microsoft.com/office/powerpoint/2010/main" val="2540938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592C6DF-2014-902F-4237-DAEF9CFDC4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4" y="274639"/>
            <a:ext cx="8218487" cy="56197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ТУРИСТОВ ГОРОДА СЛОБОДСКОГО</a:t>
            </a:r>
            <a:endParaRPr lang="ru-RU" altLang="ru-RU" sz="1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D791CB3-0BEE-3FE4-4E93-F137538600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05250" y="2088941"/>
            <a:ext cx="9508476" cy="3873077"/>
          </a:xfrm>
        </p:spPr>
        <p:txBody>
          <a:bodyPr>
            <a:normAutofit/>
          </a:bodyPr>
          <a:lstStyle/>
          <a:p>
            <a:pPr algn="just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</a:rPr>
              <a:t>		1. Среда разработки </a:t>
            </a:r>
            <a:r>
              <a:rPr lang="en-US" altLang="ru-RU" dirty="0">
                <a:latin typeface="Times New Roman" panose="02020603050405020304" pitchFamily="18" charset="0"/>
              </a:rPr>
              <a:t>Android Studio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algn="just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</a:rPr>
              <a:t>		2. Языка программирования </a:t>
            </a:r>
            <a:r>
              <a:rPr lang="en-US" altLang="ru-RU" dirty="0">
                <a:latin typeface="Times New Roman" panose="02020603050405020304" pitchFamily="18" charset="0"/>
              </a:rPr>
              <a:t>Kotlin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algn="just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</a:rPr>
              <a:t>				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DAEE8CA0-89AA-A0DD-D10B-95AC9FB8D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836613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2800" b="1" dirty="0">
                <a:latin typeface="Times New Roman" panose="02020603050405020304" pitchFamily="18" charset="0"/>
              </a:rPr>
              <a:t>Средства разработки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1D19A1E-60B0-79BE-43C3-79DF7C10D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250" y="3530993"/>
            <a:ext cx="2673275" cy="267327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F4F94DB-9C46-7349-712E-CC1BDE5D7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852" y="4025479"/>
            <a:ext cx="542925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419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1EA171A-607A-0656-DCB0-0355C7C1BC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561975"/>
          </a:xfrm>
        </p:spPr>
        <p:txBody>
          <a:bodyPr/>
          <a:lstStyle/>
          <a:p>
            <a:pPr algn="ctr">
              <a:defRPr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ТУРИСТОВ ГОРОДА СЛОБОДСКОГО</a:t>
            </a:r>
            <a:endParaRPr lang="ru-RU" altLang="ru-RU" sz="1400" b="1" dirty="0">
              <a:latin typeface="Times New Roman" panose="02020603050405020304" pitchFamily="18" charset="0"/>
            </a:endParaRPr>
          </a:p>
        </p:txBody>
      </p:sp>
      <p:sp>
        <p:nvSpPr>
          <p:cNvPr id="5" name="Скругленный прямоугольник 1">
            <a:extLst>
              <a:ext uri="{FF2B5EF4-FFF2-40B4-BE49-F238E27FC236}">
                <a16:creationId xmlns:a16="http://schemas.microsoft.com/office/drawing/2014/main" id="{7088ED3C-5CF4-4672-7D6F-0CDF2696FBBC}"/>
              </a:ext>
            </a:extLst>
          </p:cNvPr>
          <p:cNvSpPr/>
          <p:nvPr/>
        </p:nvSpPr>
        <p:spPr>
          <a:xfrm>
            <a:off x="4308151" y="1043492"/>
            <a:ext cx="3575702" cy="8713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800" dirty="0"/>
              <a:t>Основные функции программы</a:t>
            </a:r>
          </a:p>
        </p:txBody>
      </p:sp>
      <p:sp>
        <p:nvSpPr>
          <p:cNvPr id="6" name="Скругленный прямоугольник 2">
            <a:extLst>
              <a:ext uri="{FF2B5EF4-FFF2-40B4-BE49-F238E27FC236}">
                <a16:creationId xmlns:a16="http://schemas.microsoft.com/office/drawing/2014/main" id="{4FA9ACA6-E780-C743-4727-32B5E1D02FE5}"/>
              </a:ext>
            </a:extLst>
          </p:cNvPr>
          <p:cNvSpPr/>
          <p:nvPr/>
        </p:nvSpPr>
        <p:spPr>
          <a:xfrm>
            <a:off x="473336" y="3164580"/>
            <a:ext cx="3615841" cy="12460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ru-RU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Отображение достопримечательностей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карте</a:t>
            </a:r>
          </a:p>
        </p:txBody>
      </p:sp>
      <p:cxnSp>
        <p:nvCxnSpPr>
          <p:cNvPr id="7" name="Соединительная линия уступом 5">
            <a:extLst>
              <a:ext uri="{FF2B5EF4-FFF2-40B4-BE49-F238E27FC236}">
                <a16:creationId xmlns:a16="http://schemas.microsoft.com/office/drawing/2014/main" id="{D6F0DB21-7E69-D6F9-0470-EB4789CF0A8A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5400000">
            <a:off x="3563771" y="632349"/>
            <a:ext cx="1249718" cy="381474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Скругленный прямоугольник 10">
            <a:extLst>
              <a:ext uri="{FF2B5EF4-FFF2-40B4-BE49-F238E27FC236}">
                <a16:creationId xmlns:a16="http://schemas.microsoft.com/office/drawing/2014/main" id="{5EC93647-AF59-1D0C-7E2B-96EF2B8C6616}"/>
              </a:ext>
            </a:extLst>
          </p:cNvPr>
          <p:cNvSpPr/>
          <p:nvPr/>
        </p:nvSpPr>
        <p:spPr>
          <a:xfrm>
            <a:off x="4392357" y="3164580"/>
            <a:ext cx="3407291" cy="12460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списка достопримечательностей</a:t>
            </a:r>
          </a:p>
        </p:txBody>
      </p:sp>
      <p:cxnSp>
        <p:nvCxnSpPr>
          <p:cNvPr id="9" name="Соединительная линия уступом 12">
            <a:extLst>
              <a:ext uri="{FF2B5EF4-FFF2-40B4-BE49-F238E27FC236}">
                <a16:creationId xmlns:a16="http://schemas.microsoft.com/office/drawing/2014/main" id="{8D07C3FF-419D-E320-A326-401322ECB998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5471143" y="2539720"/>
            <a:ext cx="1249718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Скругленный прямоугольник 14">
            <a:extLst>
              <a:ext uri="{FF2B5EF4-FFF2-40B4-BE49-F238E27FC236}">
                <a16:creationId xmlns:a16="http://schemas.microsoft.com/office/drawing/2014/main" id="{33AFC23E-36D6-384E-29A4-D52E752E5458}"/>
              </a:ext>
            </a:extLst>
          </p:cNvPr>
          <p:cNvSpPr/>
          <p:nvPr/>
        </p:nvSpPr>
        <p:spPr>
          <a:xfrm>
            <a:off x="8150326" y="3164580"/>
            <a:ext cx="3568338" cy="12460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информации о достопримечательности</a:t>
            </a:r>
          </a:p>
        </p:txBody>
      </p:sp>
      <p:cxnSp>
        <p:nvCxnSpPr>
          <p:cNvPr id="11" name="Соединительная линия уступом 15">
            <a:extLst>
              <a:ext uri="{FF2B5EF4-FFF2-40B4-BE49-F238E27FC236}">
                <a16:creationId xmlns:a16="http://schemas.microsoft.com/office/drawing/2014/main" id="{5652D577-FEC5-3B16-3AF0-57C74CC8AE58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rot="16200000" flipH="1">
            <a:off x="7390389" y="620474"/>
            <a:ext cx="1249718" cy="38384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5">
            <a:extLst>
              <a:ext uri="{FF2B5EF4-FFF2-40B4-BE49-F238E27FC236}">
                <a16:creationId xmlns:a16="http://schemas.microsoft.com/office/drawing/2014/main" id="{5CF05334-E7CC-A8E3-88B5-4BD115E66DEB}"/>
              </a:ext>
            </a:extLst>
          </p:cNvPr>
          <p:cNvCxnSpPr>
            <a:cxnSpLocks/>
          </p:cNvCxnSpPr>
          <p:nvPr/>
        </p:nvCxnSpPr>
        <p:spPr>
          <a:xfrm rot="16200000" flipH="1">
            <a:off x="2124634" y="4727984"/>
            <a:ext cx="634701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Соединительная линия уступом 5">
            <a:extLst>
              <a:ext uri="{FF2B5EF4-FFF2-40B4-BE49-F238E27FC236}">
                <a16:creationId xmlns:a16="http://schemas.microsoft.com/office/drawing/2014/main" id="{2D721034-8068-5D26-A36E-02EF50F4C6F1}"/>
              </a:ext>
            </a:extLst>
          </p:cNvPr>
          <p:cNvCxnSpPr>
            <a:cxnSpLocks/>
          </p:cNvCxnSpPr>
          <p:nvPr/>
        </p:nvCxnSpPr>
        <p:spPr>
          <a:xfrm rot="16200000" flipH="1">
            <a:off x="9624506" y="4803288"/>
            <a:ext cx="785309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Скругленный прямоугольник 2">
            <a:extLst>
              <a:ext uri="{FF2B5EF4-FFF2-40B4-BE49-F238E27FC236}">
                <a16:creationId xmlns:a16="http://schemas.microsoft.com/office/drawing/2014/main" id="{77B9198A-185A-6C36-6CC8-73788AFE03CC}"/>
              </a:ext>
            </a:extLst>
          </p:cNvPr>
          <p:cNvSpPr/>
          <p:nvPr/>
        </p:nvSpPr>
        <p:spPr>
          <a:xfrm>
            <a:off x="473335" y="5045335"/>
            <a:ext cx="3615841" cy="9251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ru-RU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Поиск ближайших отелей</a:t>
            </a:r>
          </a:p>
        </p:txBody>
      </p:sp>
      <p:sp>
        <p:nvSpPr>
          <p:cNvPr id="35" name="Скругленный прямоугольник 2">
            <a:extLst>
              <a:ext uri="{FF2B5EF4-FFF2-40B4-BE49-F238E27FC236}">
                <a16:creationId xmlns:a16="http://schemas.microsoft.com/office/drawing/2014/main" id="{DEA55CEB-E404-620D-178C-847B4966AC3E}"/>
              </a:ext>
            </a:extLst>
          </p:cNvPr>
          <p:cNvSpPr/>
          <p:nvPr/>
        </p:nvSpPr>
        <p:spPr>
          <a:xfrm>
            <a:off x="8150326" y="5195943"/>
            <a:ext cx="3615841" cy="7745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ru-RU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Отображение карты</a:t>
            </a:r>
          </a:p>
        </p:txBody>
      </p:sp>
    </p:spTree>
    <p:extLst>
      <p:ext uri="{BB962C8B-B14F-4D97-AF65-F5344CB8AC3E}">
        <p14:creationId xmlns:p14="http://schemas.microsoft.com/office/powerpoint/2010/main" val="2562616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F0ABF0-EF64-02C3-A9E4-41A5279BA6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3213100"/>
            <a:ext cx="8229600" cy="965200"/>
          </a:xfrm>
        </p:spPr>
        <p:txBody>
          <a:bodyPr rtlCol="0">
            <a:normAutofit/>
          </a:bodyPr>
          <a:lstStyle/>
          <a:p>
            <a:pPr marL="182880" indent="-182880" algn="ctr">
              <a:buClr>
                <a:schemeClr val="accent1">
                  <a:lumMod val="75000"/>
                </a:schemeClr>
              </a:buClr>
              <a:buNone/>
              <a:defRPr/>
            </a:pPr>
            <a:r>
              <a:rPr lang="ru-RU" altLang="ru-RU" sz="3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Демонстрация программы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4F8B93-56D7-5CF7-BAA3-2284B53692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5041" y="146759"/>
            <a:ext cx="8229600" cy="633412"/>
          </a:xfrm>
        </p:spPr>
        <p:txBody>
          <a:bodyPr/>
          <a:lstStyle/>
          <a:p>
            <a:pPr algn="ctr">
              <a:defRPr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ТУРИСТОВ ГОРОДА СЛОБОДСКОГО</a:t>
            </a:r>
            <a:endParaRPr lang="ru-RU" altLang="ru-RU" sz="14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314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53E020E-3A58-8E6D-44F6-16BF908739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4" y="274639"/>
            <a:ext cx="8218487" cy="56197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ТУРИСТОВ ГОРОДА СЛОБОДСКОГО</a:t>
            </a:r>
            <a:endParaRPr lang="ru-RU" altLang="ru-RU" sz="1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AD3EDF69-DC46-0B18-60B5-1B5D148FF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9347" y="1049761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2800" b="1" dirty="0">
                <a:latin typeface="Times New Roman" panose="02020603050405020304" pitchFamily="18" charset="0"/>
              </a:rPr>
              <a:t>Основное окно</a:t>
            </a:r>
          </a:p>
        </p:txBody>
      </p:sp>
      <p:pic>
        <p:nvPicPr>
          <p:cNvPr id="6" name="Объект 2">
            <a:extLst>
              <a:ext uri="{FF2B5EF4-FFF2-40B4-BE49-F238E27FC236}">
                <a16:creationId xmlns:a16="http://schemas.microsoft.com/office/drawing/2014/main" id="{9ED83D51-61CD-A74F-AC76-515145D180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6"/>
          <a:stretch/>
        </p:blipFill>
        <p:spPr>
          <a:xfrm>
            <a:off x="4939950" y="1568873"/>
            <a:ext cx="2251993" cy="49921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25653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155C85E3-4C08-E60A-C936-6D64A84F04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2" t="32792" r="21779" b="25893"/>
          <a:stretch/>
        </p:blipFill>
        <p:spPr bwMode="auto">
          <a:xfrm rot="20121255">
            <a:off x="8126855" y="4591787"/>
            <a:ext cx="3912148" cy="1588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850BE2DF-7D40-111B-9ED0-C64BD0533F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4" y="274639"/>
            <a:ext cx="8218487" cy="56197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ТУРИСТОВ ГОРОДА СЛОБОДСКОГО</a:t>
            </a:r>
            <a:endParaRPr lang="ru-RU" altLang="ru-RU" sz="1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F8DB88-53D9-6E66-FF8E-546C89CC63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55433" y="1705073"/>
            <a:ext cx="9508476" cy="3247927"/>
          </a:xfrm>
        </p:spPr>
        <p:txBody>
          <a:bodyPr>
            <a:normAutofit/>
          </a:bodyPr>
          <a:lstStyle/>
          <a:p>
            <a:pPr lvl="3" algn="just"/>
            <a:r>
              <a:rPr lang="ru-RU" altLang="ru-RU" sz="2400" dirty="0">
                <a:latin typeface="Times New Roman" panose="02020603050405020304" pitchFamily="18" charset="0"/>
              </a:rPr>
              <a:t> Отсутствует оффлайн-режим отображения карты: приложение зависит от интернета для загрузки </a:t>
            </a:r>
            <a:r>
              <a:rPr lang="ru-RU" altLang="ru-RU" sz="2400" dirty="0" err="1">
                <a:latin typeface="Times New Roman" panose="02020603050405020304" pitchFamily="18" charset="0"/>
              </a:rPr>
              <a:t>тайлов</a:t>
            </a:r>
            <a:r>
              <a:rPr lang="ru-RU" altLang="ru-RU" sz="2400" dirty="0">
                <a:latin typeface="Times New Roman" panose="02020603050405020304" pitchFamily="18" charset="0"/>
              </a:rPr>
              <a:t> Google Maps, несмотря на наличие локальных данных;</a:t>
            </a:r>
          </a:p>
          <a:p>
            <a:pPr lvl="3" algn="just"/>
            <a:r>
              <a:rPr lang="ru-RU" altLang="ru-RU" sz="2400" dirty="0">
                <a:latin typeface="Times New Roman" panose="02020603050405020304" pitchFamily="18" charset="0"/>
              </a:rPr>
              <a:t> Нет встроенной пешеходной маршрутизации: пользователь видит маркеры, но не может построить маршрут внутри приложения;</a:t>
            </a:r>
          </a:p>
          <a:p>
            <a:pPr lvl="3" algn="just"/>
            <a:r>
              <a:rPr lang="ru-RU" altLang="ru-RU" sz="2400" dirty="0">
                <a:latin typeface="Times New Roman" panose="02020603050405020304" pitchFamily="18" charset="0"/>
              </a:rPr>
              <a:t> Поиск отелей работает только при включённой геолокации и не даёт обратной связи при её отсутствии (до исправления);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2B520DD0-323B-5C44-F81A-5DCDB8C86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836613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2800" b="1" dirty="0">
                <a:latin typeface="Times New Roman" panose="02020603050405020304" pitchFamily="18" charset="0"/>
              </a:rPr>
              <a:t>Проблемы</a:t>
            </a:r>
          </a:p>
        </p:txBody>
      </p:sp>
    </p:spTree>
    <p:extLst>
      <p:ext uri="{BB962C8B-B14F-4D97-AF65-F5344CB8AC3E}">
        <p14:creationId xmlns:p14="http://schemas.microsoft.com/office/powerpoint/2010/main" val="3928111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6D62CBC-7434-08D9-C087-4672541D49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4" y="274639"/>
            <a:ext cx="8218487" cy="56197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ТУРИСТОВ ГОРОДА СЛОБОДСКОГО</a:t>
            </a:r>
            <a:endParaRPr lang="ru-RU" altLang="ru-RU" sz="1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2A29653-0F46-2E8C-E224-485920D8F3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47319" y="1790604"/>
            <a:ext cx="9508476" cy="3873077"/>
          </a:xfrm>
        </p:spPr>
        <p:txBody>
          <a:bodyPr>
            <a:normAutofit/>
          </a:bodyPr>
          <a:lstStyle/>
          <a:p>
            <a:pPr algn="just"/>
            <a:r>
              <a:rPr lang="ru-RU" altLang="ru-RU" sz="2800" dirty="0">
                <a:latin typeface="Times New Roman" panose="02020603050405020304" pitchFamily="18" charset="0"/>
              </a:rPr>
              <a:t>Изменить интерфейс программы</a:t>
            </a:r>
          </a:p>
          <a:p>
            <a:pPr algn="just"/>
            <a:r>
              <a:rPr lang="ru-RU" altLang="ru-RU" dirty="0">
                <a:latin typeface="Times New Roman" panose="02020603050405020304" pitchFamily="18" charset="0"/>
              </a:rPr>
              <a:t>Расширить пользовательские функции</a:t>
            </a:r>
          </a:p>
          <a:p>
            <a:pPr algn="just"/>
            <a:r>
              <a:rPr lang="ru-RU" altLang="ru-RU" sz="2800" dirty="0">
                <a:latin typeface="Times New Roman" panose="02020603050405020304" pitchFamily="18" charset="0"/>
              </a:rPr>
              <a:t>Добавить </a:t>
            </a: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встроенную пешеходную маршрутизацию</a:t>
            </a:r>
            <a:endParaRPr lang="ru-RU" altLang="ru-RU" sz="2800" dirty="0">
              <a:latin typeface="Times New Roman" panose="02020603050405020304" pitchFamily="18" charset="0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77F2E648-8585-75D8-C010-A4DADA909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836613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2800" b="1" dirty="0">
                <a:latin typeface="Times New Roman" panose="02020603050405020304" pitchFamily="18" charset="0"/>
              </a:rPr>
              <a:t>Перспективы развития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BF24B34-97E7-7220-CB7A-C3BE28CC7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60530" y="3973286"/>
            <a:ext cx="3568051" cy="252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96431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Широкоэкранный</PresentationFormat>
  <Paragraphs>51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system-ui</vt:lpstr>
      <vt:lpstr>Times New Roman</vt:lpstr>
      <vt:lpstr>Тема Office</vt:lpstr>
      <vt:lpstr>Презентация PowerPoint</vt:lpstr>
      <vt:lpstr>РАЗРАБОТКА МОБИЛЬНОГО ПРИЛОЖЕНИЯ ДЛЯ ТУРИСТОВ ГОРОДА СЛОБОДСКОГО</vt:lpstr>
      <vt:lpstr>РАЗРАБОТКА МОБИЛЬНОГО ПРИЛОЖЕНИЯ ДЛЯ ТУРИСТОВ ГОРОДА СЛОБОДСКОГО</vt:lpstr>
      <vt:lpstr>РАЗРАБОТКА МОБИЛЬНОГО ПРИЛОЖЕНИЯ ДЛЯ ТУРИСТОВ ГОРОДА СЛОБОДСКОГО</vt:lpstr>
      <vt:lpstr>РАЗРАБОТКА МОБИЛЬНОГО ПРИЛОЖЕНИЯ ДЛЯ ТУРИСТОВ ГОРОДА СЛОБОДСКОГО</vt:lpstr>
      <vt:lpstr>РАЗРАБОТКА МОБИЛЬНОГО ПРИЛОЖЕНИЯ ДЛЯ ТУРИСТОВ ГОРОДА СЛОБОДСКОГО</vt:lpstr>
      <vt:lpstr>РАЗРАБОТКА МОБИЛЬНОГО ПРИЛОЖЕНИЯ ДЛЯ ТУРИСТОВ ГОРОДА СЛОБОДСКОГО</vt:lpstr>
      <vt:lpstr>РАЗРАБОТКА МОБИЛЬНОГО ПРИЛОЖЕНИЯ ДЛЯ ТУРИСТОВ ГОРОДА СЛОБОДСКОГО</vt:lpstr>
      <vt:lpstr>РАЗРАБОТКА МОБИЛЬНОГО ПРИЛОЖЕНИЯ ДЛЯ ТУРИСТОВ ГОРОДА СЛОБОДСКОГО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Kami0AI</dc:creator>
  <cp:lastModifiedBy>ROXY |</cp:lastModifiedBy>
  <cp:revision>1</cp:revision>
  <dcterms:created xsi:type="dcterms:W3CDTF">2025-12-01T12:34:32Z</dcterms:created>
  <dcterms:modified xsi:type="dcterms:W3CDTF">2025-12-01T12:34:48Z</dcterms:modified>
</cp:coreProperties>
</file>